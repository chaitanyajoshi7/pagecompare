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A4E"/>
    <a:srgbClr val="1C7D94"/>
    <a:srgbClr val="00B4D8"/>
    <a:srgbClr val="B0BEC5"/>
    <a:srgbClr val="272936"/>
    <a:srgbClr val="272C97"/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7AD11-01BE-E847-73BD-F8E132F0D610}" v="3" dt="2026-07-06T07:08:35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de, Dakshata" userId="5d03429c-cb62-4e9e-919a-cfd414931d10" providerId="ADAL" clId="{D68C68C2-49BF-49D3-9B89-497A58C49F1C}"/>
    <pc:docChg chg="undo custSel addSld delSld modSld sldOrd modMainMaster">
      <pc:chgData name="Shinde, Dakshata" userId="5d03429c-cb62-4e9e-919a-cfd414931d10" providerId="ADAL" clId="{D68C68C2-49BF-49D3-9B89-497A58C49F1C}" dt="2026-06-24T14:51:12.126" v="610" actId="339"/>
      <pc:docMkLst>
        <pc:docMk/>
      </pc:docMkLst>
      <pc:sldChg chg="addSp delSp modSp mod">
        <pc:chgData name="Shinde, Dakshata" userId="5d03429c-cb62-4e9e-919a-cfd414931d10" providerId="ADAL" clId="{D68C68C2-49BF-49D3-9B89-497A58C49F1C}" dt="2026-06-24T14:51:12.126" v="610" actId="339"/>
        <pc:sldMkLst>
          <pc:docMk/>
          <pc:sldMk cId="0" sldId="256"/>
        </pc:sldMkLst>
        <pc:spChg chg="mod">
          <ac:chgData name="Shinde, Dakshata" userId="5d03429c-cb62-4e9e-919a-cfd414931d10" providerId="ADAL" clId="{D68C68C2-49BF-49D3-9B89-497A58C49F1C}" dt="2026-06-24T08:12:54.136" v="371" actId="14100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Shinde, Dakshata" userId="5d03429c-cb62-4e9e-919a-cfd414931d10" providerId="ADAL" clId="{D68C68C2-49BF-49D3-9B89-497A58C49F1C}" dt="2026-06-24T14:51:12.126" v="610" actId="339"/>
          <ac:picMkLst>
            <pc:docMk/>
            <pc:sldMk cId="0" sldId="256"/>
            <ac:picMk id="18" creationId="{72214334-5BFD-713A-B8E6-903E6E04D5B1}"/>
          </ac:picMkLst>
        </pc:picChg>
      </pc:sldChg>
      <pc:sldChg chg="modSp mod">
        <pc:chgData name="Shinde, Dakshata" userId="5d03429c-cb62-4e9e-919a-cfd414931d10" providerId="ADAL" clId="{D68C68C2-49BF-49D3-9B89-497A58C49F1C}" dt="2026-06-23T13:54:36.804" v="17" actId="207"/>
        <pc:sldMkLst>
          <pc:docMk/>
          <pc:sldMk cId="0" sldId="258"/>
        </pc:sldMkLst>
        <pc:spChg chg="mod">
          <ac:chgData name="Shinde, Dakshata" userId="5d03429c-cb62-4e9e-919a-cfd414931d10" providerId="ADAL" clId="{D68C68C2-49BF-49D3-9B89-497A58C49F1C}" dt="2026-06-23T13:53:31.578" v="1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4:28.451" v="16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3:13.743" v="11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4:36.804" v="17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3:18.408" v="12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1:55.528" v="8" actId="1076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Shinde, Dakshata" userId="5d03429c-cb62-4e9e-919a-cfd414931d10" providerId="ADAL" clId="{D68C68C2-49BF-49D3-9B89-497A58C49F1C}" dt="2026-06-23T15:56:41.119" v="20" actId="1076"/>
        <pc:sldMkLst>
          <pc:docMk/>
          <pc:sldMk cId="0" sldId="262"/>
        </pc:sldMkLst>
        <pc:spChg chg="mod">
          <ac:chgData name="Shinde, Dakshata" userId="5d03429c-cb62-4e9e-919a-cfd414931d10" providerId="ADAL" clId="{D68C68C2-49BF-49D3-9B89-497A58C49F1C}" dt="2026-06-23T15:56:41.119" v="20" actId="1076"/>
          <ac:spMkLst>
            <pc:docMk/>
            <pc:sldMk cId="0" sldId="262"/>
            <ac:spMk id="24" creationId="{00000000-0000-0000-0000-000000000000}"/>
          </ac:spMkLst>
        </pc:spChg>
      </pc:sldChg>
      <pc:sldChg chg="add ord setBg">
        <pc:chgData name="Shinde, Dakshata" userId="5d03429c-cb62-4e9e-919a-cfd414931d10" providerId="ADAL" clId="{D68C68C2-49BF-49D3-9B89-497A58C49F1C}" dt="2026-06-24T08:07:28.720" v="23"/>
        <pc:sldMkLst>
          <pc:docMk/>
          <pc:sldMk cId="0" sldId="276"/>
        </pc:sldMkLst>
      </pc:sldChg>
      <pc:sldChg chg="add setBg">
        <pc:chgData name="Shinde, Dakshata" userId="5d03429c-cb62-4e9e-919a-cfd414931d10" providerId="ADAL" clId="{D68C68C2-49BF-49D3-9B89-497A58C49F1C}" dt="2026-06-24T08:07:40.886" v="24"/>
        <pc:sldMkLst>
          <pc:docMk/>
          <pc:sldMk cId="0" sldId="277"/>
        </pc:sldMkLst>
      </pc:sldChg>
      <pc:sldMasterChg chg="modSldLayout">
        <pc:chgData name="Shinde, Dakshata" userId="5d03429c-cb62-4e9e-919a-cfd414931d10" providerId="ADAL" clId="{D68C68C2-49BF-49D3-9B89-497A58C49F1C}" dt="2026-06-24T08:10:59.075" v="370" actId="6549"/>
        <pc:sldMasterMkLst>
          <pc:docMk/>
          <pc:sldMasterMk cId="0" sldId="2147483648"/>
        </pc:sldMasterMkLst>
        <pc:sldLayoutChg chg="modSp mod setBg">
          <pc:chgData name="Shinde, Dakshata" userId="5d03429c-cb62-4e9e-919a-cfd414931d10" providerId="ADAL" clId="{D68C68C2-49BF-49D3-9B89-497A58C49F1C}" dt="2026-06-24T08:10:59.075" v="370" actId="6549"/>
          <pc:sldLayoutMkLst>
            <pc:docMk/>
            <pc:sldMasterMk cId="0" sldId="2147483648"/>
            <pc:sldLayoutMk cId="0" sldId="2147483649"/>
          </pc:sldLayoutMkLst>
          <pc:spChg chg="mod">
            <ac:chgData name="Shinde, Dakshata" userId="5d03429c-cb62-4e9e-919a-cfd414931d10" providerId="ADAL" clId="{D68C68C2-49BF-49D3-9B89-497A58C49F1C}" dt="2026-06-24T08:10:38.760" v="366" actId="207"/>
            <ac:spMkLst>
              <pc:docMk/>
              <pc:sldMasterMk cId="0" sldId="2147483648"/>
              <pc:sldLayoutMk cId="0" sldId="2147483649"/>
              <ac:spMk id="5" creationId="{1291BE9C-3C4E-1A22-DAE3-5B0E6D99B44E}"/>
            </ac:spMkLst>
          </pc:spChg>
          <pc:spChg chg="mod">
            <ac:chgData name="Shinde, Dakshata" userId="5d03429c-cb62-4e9e-919a-cfd414931d10" providerId="ADAL" clId="{D68C68C2-49BF-49D3-9B89-497A58C49F1C}" dt="2026-06-24T08:10:59.075" v="370" actId="6549"/>
            <ac:spMkLst>
              <pc:docMk/>
              <pc:sldMasterMk cId="0" sldId="2147483648"/>
              <pc:sldLayoutMk cId="0" sldId="2147483649"/>
              <ac:spMk id="6" creationId="{1537D353-4EB7-902E-6917-D57EC6DEF246}"/>
            </ac:spMkLst>
          </pc:spChg>
        </pc:sldLayoutChg>
      </pc:sldMasterChg>
    </pc:docChg>
  </pc:docChgLst>
  <pc:docChgLst>
    <pc:chgData name="Joshi, Chaitanya Shirishkumar" userId="18712c0a-f842-4d14-a2eb-d273292d5125" providerId="ADAL" clId="{B71AC933-134D-47F7-9907-15CF2125D6EA}"/>
    <pc:docChg chg="undo custSel addSld delSld modSld">
      <pc:chgData name="Joshi, Chaitanya Shirishkumar" userId="18712c0a-f842-4d14-a2eb-d273292d5125" providerId="ADAL" clId="{B71AC933-134D-47F7-9907-15CF2125D6EA}" dt="2026-06-24T08:42:23.354" v="17"/>
      <pc:docMkLst>
        <pc:docMk/>
      </pc:docMkLst>
      <pc:sldChg chg="addSp delSp mod setBg">
        <pc:chgData name="Joshi, Chaitanya Shirishkumar" userId="18712c0a-f842-4d14-a2eb-d273292d5125" providerId="ADAL" clId="{B71AC933-134D-47F7-9907-15CF2125D6EA}" dt="2026-06-24T08:42:22.663" v="16" actId="478"/>
        <pc:sldMkLst>
          <pc:docMk/>
          <pc:sldMk cId="0" sldId="256"/>
        </pc:sldMkLst>
        <pc:spChg chg="add del">
          <ac:chgData name="Joshi, Chaitanya Shirishkumar" userId="18712c0a-f842-4d14-a2eb-d273292d5125" providerId="ADAL" clId="{B71AC933-134D-47F7-9907-15CF2125D6EA}" dt="2026-06-24T08:42:22.663" v="16" actId="478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Joshi, Chaitanya Shirishkumar" userId="18712c0a-f842-4d14-a2eb-d273292d5125" providerId="ADAL" clId="{B71AC933-134D-47F7-9907-15CF2125D6EA}" dt="2026-06-24T08:42:21.946" v="15" actId="478"/>
          <ac:spMkLst>
            <pc:docMk/>
            <pc:sldMk cId="0" sldId="256"/>
            <ac:spMk id="3" creationId="{00000000-0000-0000-0000-000000000000}"/>
          </ac:spMkLst>
        </pc:spChg>
        <pc:picChg chg="add del">
          <ac:chgData name="Joshi, Chaitanya Shirishkumar" userId="18712c0a-f842-4d14-a2eb-d273292d5125" providerId="ADAL" clId="{B71AC933-134D-47F7-9907-15CF2125D6EA}" dt="2026-06-24T08:42:21.301" v="14" actId="478"/>
          <ac:picMkLst>
            <pc:docMk/>
            <pc:sldMk cId="0" sldId="256"/>
            <ac:picMk id="4" creationId="{00000000-0000-0000-0000-000000000000}"/>
          </ac:picMkLst>
        </pc:picChg>
      </pc:sldChg>
    </pc:docChg>
  </pc:docChgLst>
  <pc:docChgLst>
    <pc:chgData name="Joshi, Chaitanya Shirishkumar" userId="S::chaitanya-shirishkumar.joshi@capgemini.com::18712c0a-f842-4d14-a2eb-d273292d5125" providerId="AD" clId="Web-{6F47AD11-01BE-E847-73BD-F8E132F0D610}"/>
    <pc:docChg chg="modSld">
      <pc:chgData name="Joshi, Chaitanya Shirishkumar" userId="S::chaitanya-shirishkumar.joshi@capgemini.com::18712c0a-f842-4d14-a2eb-d273292d5125" providerId="AD" clId="Web-{6F47AD11-01BE-E847-73BD-F8E132F0D610}" dt="2026-07-06T07:08:35.344" v="2" actId="14100"/>
      <pc:docMkLst>
        <pc:docMk/>
      </pc:docMkLst>
      <pc:sldChg chg="modSp">
        <pc:chgData name="Joshi, Chaitanya Shirishkumar" userId="S::chaitanya-shirishkumar.joshi@capgemini.com::18712c0a-f842-4d14-a2eb-d273292d5125" providerId="AD" clId="Web-{6F47AD11-01BE-E847-73BD-F8E132F0D610}" dt="2026-07-06T07:08:35.344" v="2" actId="14100"/>
        <pc:sldMkLst>
          <pc:docMk/>
          <pc:sldMk cId="0" sldId="267"/>
        </pc:sldMkLst>
        <pc:spChg chg="mod">
          <ac:chgData name="Joshi, Chaitanya Shirishkumar" userId="S::chaitanya-shirishkumar.joshi@capgemini.com::18712c0a-f842-4d14-a2eb-d273292d5125" providerId="AD" clId="Web-{6F47AD11-01BE-E847-73BD-F8E132F0D610}" dt="2026-07-06T07:08:35.344" v="2" actId="1410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Joshi, Chaitanya Shirishkumar" userId="S::chaitanya-shirishkumar.joshi@capgemini.com::18712c0a-f842-4d14-a2eb-d273292d5125" providerId="AD" clId="Web-{6F47AD11-01BE-E847-73BD-F8E132F0D610}" dt="2026-07-06T07:08:25.437" v="0" actId="1076"/>
          <ac:spMkLst>
            <pc:docMk/>
            <pc:sldMk cId="0" sldId="267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 Using AI Agents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78-416A-BDDA-7DC4A616F64F}"/>
              </c:ext>
            </c:extLst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78-416A-BDDA-7DC4A616F64F}"/>
              </c:ext>
            </c:extLst>
          </c:dPt>
          <c:dPt>
            <c:idx val="2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78-416A-BDDA-7DC4A616F64F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78-416A-BDDA-7DC4A616F64F}"/>
              </c:ext>
            </c:extLst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78-416A-BDDA-7DC4A616F64F}"/>
              </c:ext>
            </c:extLst>
          </c:dPt>
          <c:dPt>
            <c:idx val="5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D78-416A-BDDA-7DC4A616F6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Finance</c:v>
                </c:pt>
                <c:pt idx="1">
                  <c:v>Healthcare</c:v>
                </c:pt>
                <c:pt idx="2">
                  <c:v>Retail</c:v>
                </c:pt>
                <c:pt idx="3">
                  <c:v>Tech</c:v>
                </c:pt>
                <c:pt idx="4">
                  <c:v>Manufacturing</c:v>
                </c:pt>
                <c:pt idx="5">
                  <c:v>Education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62</c:v>
                </c:pt>
                <c:pt idx="2">
                  <c:v>71</c:v>
                </c:pt>
                <c:pt idx="3">
                  <c:v>91</c:v>
                </c:pt>
                <c:pt idx="4">
                  <c:v>54</c:v>
                </c:pt>
                <c:pt idx="5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D78-416A-BDDA-7DC4A616F6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(Billion USD)</c:v>
                </c:pt>
              </c:strCache>
            </c:strRef>
          </c:tx>
          <c:spPr>
            <a:ln w="38100" cap="flat">
              <a:solidFill>
                <a:srgbClr val="00E5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3.8</c:v>
                </c:pt>
                <c:pt idx="2">
                  <c:v>6.2</c:v>
                </c:pt>
                <c:pt idx="3">
                  <c:v>11.5</c:v>
                </c:pt>
                <c:pt idx="4">
                  <c:v>21</c:v>
                </c:pt>
                <c:pt idx="5">
                  <c:v>37.799999999999997</c:v>
                </c:pt>
                <c:pt idx="6">
                  <c:v>64.5</c:v>
                </c:pt>
                <c:pt idx="7">
                  <c:v>102.3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22-4C2F-B24A-CEB94DBC53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21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gradFill flip="none" rotWithShape="1">
          <a:gsLst>
            <a:gs pos="20000">
              <a:schemeClr val="accent1">
                <a:lumMod val="75000"/>
              </a:schemeClr>
            </a:gs>
            <a:gs pos="61000">
              <a:srgbClr val="152A4E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A4C25E4-5A00-ACD1-4CDA-99476FBF82C7}"/>
              </a:ext>
            </a:extLst>
          </p:cNvPr>
          <p:cNvGrpSpPr/>
          <p:nvPr userDrawn="1"/>
        </p:nvGrpSpPr>
        <p:grpSpPr>
          <a:xfrm>
            <a:off x="8557877" y="139261"/>
            <a:ext cx="419436" cy="388988"/>
            <a:chOff x="11501102" y="171573"/>
            <a:chExt cx="419436" cy="388988"/>
          </a:xfrm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DFFF15CF-6F9A-D791-5874-8D887E6DB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</a:endParaRPr>
            </a:p>
          </p:txBody>
        </p:sp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47F2C5F9-18FB-E6EF-B66A-206BDE158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</a:endParaRPr>
            </a:p>
          </p:txBody>
        </p:sp>
      </p:grpSp>
      <p:sp>
        <p:nvSpPr>
          <p:cNvPr id="5" name="Rectangle 27">
            <a:extLst>
              <a:ext uri="{FF2B5EF4-FFF2-40B4-BE49-F238E27FC236}">
                <a16:creationId xmlns:a16="http://schemas.microsoft.com/office/drawing/2014/main" id="{1291BE9C-3C4E-1A22-DAE3-5B0E6D99B44E}"/>
              </a:ext>
            </a:extLst>
          </p:cNvPr>
          <p:cNvSpPr/>
          <p:nvPr userDrawn="1"/>
        </p:nvSpPr>
        <p:spPr>
          <a:xfrm>
            <a:off x="108960" y="4902570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>
              <a:defRPr/>
            </a:pPr>
            <a:r>
              <a:rPr lang="en-US" sz="700" kern="0" dirty="0">
                <a:solidFill>
                  <a:schemeClr val="bg1"/>
                </a:solidFill>
                <a:cs typeface="Arial" panose="020B0604020202020204" pitchFamily="34" charset="0"/>
              </a:rPr>
              <a:t>Capgemini –AI Autonomous Intelligence |  July 2026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1537D353-4EB7-902E-6917-D57EC6DEF246}"/>
              </a:ext>
            </a:extLst>
          </p:cNvPr>
          <p:cNvSpPr/>
          <p:nvPr userDrawn="1"/>
        </p:nvSpPr>
        <p:spPr>
          <a:xfrm>
            <a:off x="6763656" y="4891096"/>
            <a:ext cx="2366055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algn="r">
              <a:defRPr/>
            </a:pPr>
            <a:r>
              <a:rPr lang="en-GB" sz="700" dirty="0">
                <a:solidFill>
                  <a:schemeClr val="bg1"/>
                </a:solidFill>
                <a:cs typeface="Arial" panose="020B0604020202020204" pitchFamily="34" charset="0"/>
              </a:rPr>
              <a:t>Company Confidential © Capgemini 2026. All rights reserved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274320"/>
            <a:ext cx="3840480" cy="3840480"/>
          </a:xfrm>
          <a:prstGeom prst="ellipse">
            <a:avLst/>
          </a:prstGeom>
          <a:solidFill>
            <a:srgbClr val="1565C0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852160" y="640080"/>
            <a:ext cx="2743200" cy="2743200"/>
          </a:xfrm>
          <a:prstGeom prst="ellipse">
            <a:avLst/>
          </a:prstGeom>
          <a:solidFill>
            <a:srgbClr val="00B4D8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Intelligent Automation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468879"/>
            <a:ext cx="4114800" cy="45719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think, learn, and act  explained simply.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Autonomous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37744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Intelligent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29768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Fast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214334-5BFD-713A-B8E6-903E6E04D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298" y="419098"/>
            <a:ext cx="3550924" cy="355092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54864" cy="77724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423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2423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429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429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Agents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>
              <a:solidFill>
                <a:srgbClr val="00B4D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software program that can:
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its environment
Make its own decisions
Take actions to achieve a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ea typeface="Space Grotesk" pitchFamily="34" charset="-122"/>
                <a:cs typeface="Space Grotesk" pitchFamily="34" charset="-120"/>
              </a:rPr>
              <a:t>Observes</a:t>
            </a:r>
            <a:r>
              <a:rPr lang="en-US" sz="1500" b="1" dirty="0">
                <a:solidFill>
                  <a:srgbClr val="B0BEC5"/>
                </a:solidFill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1500" dirty="0">
                <a:solidFill>
                  <a:srgbClr val="B0BEC5"/>
                </a:solidFill>
                <a:ea typeface="IBM Plex Sans" pitchFamily="34" charset="-122"/>
                <a:cs typeface="IBM Plex Sans" pitchFamily="34" charset="-120"/>
              </a:rPr>
              <a:t>the result of each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ea typeface="Space Grotesk" pitchFamily="34" charset="-122"/>
                <a:cs typeface="Space Grotesk" pitchFamily="34" charset="-120"/>
              </a:rPr>
              <a:t>Repeats </a:t>
            </a:r>
            <a:r>
              <a:rPr lang="en-US" sz="1500" dirty="0">
                <a:solidFill>
                  <a:srgbClr val="B0BEC5"/>
                </a:solidFill>
                <a:ea typeface="IBM Plex Sans" pitchFamily="34" charset="-122"/>
                <a:cs typeface="IBM Plex Sans" pitchFamily="34" charset="-120"/>
              </a:rPr>
              <a:t>the cycle until the goal is met</a:t>
            </a:r>
            <a:endParaRPr lang="en-US" sz="1500" dirty="0">
              <a:solidFill>
                <a:srgbClr val="B0BEC5"/>
              </a:solidFill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029200" cy="9601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400" dirty="0">
                <a:solidFill>
                  <a:srgbClr val="B0BEC5"/>
                </a:solidFill>
                <a:ea typeface="IBM Plex Sans" pitchFamily="34" charset="-122"/>
                <a:cs typeface="IBM Plex Sans" pitchFamily="34" charset="-120"/>
              </a:rPr>
              <a:t>The key word is </a:t>
            </a:r>
            <a:r>
              <a:rPr lang="en-US" sz="1400" b="1" dirty="0">
                <a:solidFill>
                  <a:srgbClr val="00B4D8"/>
                </a:solidFill>
                <a:ea typeface="IBM Plex Sans" pitchFamily="34" charset="-122"/>
                <a:cs typeface="IBM Plex Sans" pitchFamily="34" charset="-120"/>
              </a:rPr>
              <a:t>autonomy</a:t>
            </a:r>
            <a:r>
              <a:rPr lang="en-US" sz="1400" dirty="0">
                <a:solidFill>
                  <a:srgbClr val="B0BEC5"/>
                </a:solidFill>
                <a:ea typeface="IBM Plex Sans" pitchFamily="34" charset="-122"/>
                <a:cs typeface="IBM Plex Sans" pitchFamily="34" charset="-120"/>
              </a:rPr>
              <a:t> - the agent decides the next       step, not you.</a:t>
            </a:r>
            <a:endParaRPr lang="en-US" sz="1400" dirty="0">
              <a:solidFill>
                <a:srgbClr val="B0BEC5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0462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72"/>
              </a:lnSpc>
            </a:pPr>
            <a:r>
              <a:rPr lang="en-US" sz="1200" dirty="0">
                <a:solidFill>
                  <a:srgbClr val="BAC1D3"/>
                </a:solidFill>
                <a:ea typeface="IBM Plex Sans" pitchFamily="34" charset="-122"/>
                <a:cs typeface="IBM Plex Sans" pitchFamily="34" charset="-120"/>
              </a:rPr>
              <a:t>The “intelligence” is the decision-making - not just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BAC1D3"/>
                </a:solidFill>
                <a:ea typeface="IBM Plex Sans" pitchFamily="34" charset="-122"/>
                <a:cs typeface="IBM Plex Sans" pitchFamily="34" charset="-120"/>
              </a:rPr>
              <a:t>knowing facts.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560320" cy="2637692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Autonomous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Goal-Oriented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Intelligent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vs Regular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Regular AI (like ChatGPT)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✗  Answers one question at a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</a:rPr>
              <a:t>✓  Plans &amp; executes multi-step tasks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✗  Waits for your next message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42032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</a:rPr>
              <a:t>✓  Acts on its own without prompting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✗  No memory between chats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0916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</a:rPr>
              <a:t>✓  Remembers context across tasks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✗  Can't use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602736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0916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</a:rPr>
              <a:t>✓  Uses tools: web, email, code, APIs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✗  You do the thinking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133088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916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</a:rPr>
              <a:t>✓  It does the thinking FOR you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66260" y="2560320"/>
            <a:ext cx="342900" cy="3383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51960" y="2423160"/>
            <a:ext cx="5802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an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737360" cy="173736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PERCEIVE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data: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files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1325880"/>
            <a:ext cx="1737360" cy="173736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463040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7C3AED"/>
                </a:solidFill>
              </a:rPr>
              <a:t>THINK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834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to plan: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goal?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steps to take?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74920" y="1325880"/>
            <a:ext cx="1737360" cy="1737360"/>
          </a:xfrm>
          <a:prstGeom prst="ellipse">
            <a:avLst/>
          </a:prstGeom>
          <a:solidFill>
            <a:srgbClr val="00C896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463040"/>
            <a:ext cx="1097280" cy="10972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C896"/>
                </a:solidFill>
              </a:rPr>
              <a:t>ACT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5120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actions: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email, runs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searches web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60920" y="1325880"/>
            <a:ext cx="1737360" cy="1737360"/>
          </a:xfrm>
          <a:prstGeom prst="ellipse">
            <a:avLst/>
          </a:prstGeom>
          <a:solidFill>
            <a:srgbClr val="FFD166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63040"/>
            <a:ext cx="1097280" cy="10972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D166"/>
                </a:solidFill>
              </a:rPr>
              <a:t>REMEMBER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15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7406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outcomes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286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2651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4937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7223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TYPES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Simple Reflex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current situation only. Like a thermostat  if hot, turn on AC.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64992" y="137160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4813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Model-Based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memory of past events. Tracks what happened to make better decisions.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72784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272784" y="1371600"/>
            <a:ext cx="27432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4813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31152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Goal-Based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82512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towards a specific goal. Plans multiple steps to achieve the objective.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6440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Utility-Based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option, not just any option. Maximizes a score or outcome.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64992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364992" y="3154680"/>
            <a:ext cx="2743200" cy="3657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326440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Learning Agent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7472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time. Gets smarter with every task it completes.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72784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272784" y="3154680"/>
            <a:ext cx="2743200" cy="3657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26440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1152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Multi-Agent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82512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working together as a team to solve complex problems.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COMPONENTS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an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286000" cy="228600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745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B4D8"/>
                </a:solidFill>
              </a:rPr>
              <a:t>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B4D8"/>
                </a:solidFill>
              </a:rPr>
              <a:t>AGENT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361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LLM Brain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" y="1792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Thinks &amp; reasons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310896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735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182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7724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Reads environment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132320" y="137160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5361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Memory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635240" y="1792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Stores knowledge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132320" y="310896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2735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35240" y="3182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Tools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63524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Takes actions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566160" y="4413035"/>
            <a:ext cx="1828800" cy="647114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55371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69080" y="4462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Planning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069080" y="4809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Breaks into steps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Are Used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8640" cy="54864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179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Customer 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chatbots that resolve complaints, process refunds, and escalate complex issues automatically.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474720" y="1481328"/>
            <a:ext cx="548640" cy="5486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5179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6512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Coding Assistant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debugs, and tests code automatically. Tools like GitHub Copilot are AI agents.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82512" y="1481328"/>
            <a:ext cx="548640" cy="548640"/>
          </a:xfrm>
          <a:prstGeom prst="ellipse">
            <a:avLst/>
          </a:prstGeom>
          <a:solidFill>
            <a:srgbClr val="00C89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5179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Finance &amp; Trading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82512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market data in real-time and executes trades based on programmed strategies.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66928" y="3291840"/>
            <a:ext cx="548640" cy="548640"/>
          </a:xfrm>
          <a:prstGeom prst="ellipse">
            <a:avLst/>
          </a:prstGeom>
          <a:solidFill>
            <a:srgbClr val="FF6B35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328416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Research Agent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web, reads documents, and compiles research reports without human effort.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64992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474720" y="3291840"/>
            <a:ext cx="548640" cy="548640"/>
          </a:xfrm>
          <a:prstGeom prst="ellipse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328416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96512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Travel Planning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74720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flights, hotels, and creates itineraries by talking to multiple services simultaneously.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72784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382512" y="3291840"/>
            <a:ext cx="548640" cy="548640"/>
          </a:xfrm>
          <a:prstGeom prst="ellipse">
            <a:avLst/>
          </a:prstGeom>
          <a:solidFill>
            <a:srgbClr val="0096C7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3328416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82512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networks 24/7, detects threats, and automatically blocks suspicious activity.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Adoption by Industry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82296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1945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46E7A"/>
                </a:solidFill>
              </a:rPr>
              <a:t>Source: Gartner AI Adoption Report 2024–2025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0972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</a:defRPr>
            </a:pPr>
            <a:r>
              <a:t>LLM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The Role of LLM in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rPr dirty="0"/>
              <a:t>🧠 The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LLMs (Large Language Models) like GPT-4, Claude, or Gemini serve as the thinking engine of AI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A55D3"/>
                </a:solidFill>
              </a:defRPr>
            </a:pPr>
            <a:r>
              <a:t>🔍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They comprehend complex instructions, understand context, and generate logical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96"/>
                </a:solidFill>
              </a:defRPr>
            </a:pPr>
            <a:r>
              <a:t>🛠️ Tool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LLMs decide WHICH tools to use and WHEN to use them (web search, code execution, APIs).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166"/>
                </a:solidFill>
              </a:defRPr>
            </a:pPr>
            <a:r>
              <a:t>📝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They break down multi-step tasks into actionable steps and reason through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🔄 Adaptation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LLMs adapt responses based on feedback and improve agent behavior over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FFD166"/>
                </a:solidFill>
              </a:defRPr>
            </a:pPr>
            <a:r>
              <a:rPr dirty="0"/>
              <a:t>💡 Without an LLM, an AI Agent is just a dumb automation tool. With it, the agent becomes intelligent, adaptable, and powerful.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097280" cy="32004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22320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</a:defRPr>
            </a:pPr>
            <a:r>
              <a:rPr dirty="0">
                <a:solidFill>
                  <a:schemeClr val="bg1"/>
                </a:solidFill>
              </a:rPr>
              <a:t>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RAG: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A55D3"/>
                </a:solidFill>
              </a:defRPr>
            </a:pPr>
            <a:r>
              <a:t>What is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1148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rPr dirty="0"/>
              <a:t>RAG is a technique that allows AI Agents to fetch relevant information from external knowledge bases before generating responses.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It prevents hallucinations and ensures answers are grounded in real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A55D3"/>
                </a:solidFill>
              </a:defRPr>
            </a:pPr>
            <a:r>
              <a:t>How RAG Works: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96"/>
                </a:solidFill>
              </a:defRPr>
            </a:pPr>
            <a:r>
              <a:t>1. Retrieve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Search knowledge base for relevant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9260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96"/>
                </a:solidFill>
              </a:defRPr>
            </a:pPr>
            <a:r>
              <a:t>2. Augment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Add retrieved context to the LLM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5661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96"/>
                </a:solidFill>
              </a:defRPr>
            </a:pPr>
            <a:r>
              <a:t>3. Generate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LLM produces response using actual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166"/>
                </a:solidFill>
              </a:defRPr>
            </a:pPr>
            <a:r>
              <a:t>Real-World Examples: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📚 Customer Support Agents (search company docs) | 🏥 Medical AI (access patient records &amp; research papers) | 🔍 Legal AI (search case law &amp; contracts)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TOOLS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Use Tools Like Humans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you use a calculator, Outlook, or Google  AI Agents use tools to get things done.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488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Web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Finds latest information online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148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Code Executor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Writes &amp; runs Python, JS code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FFD16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1488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Database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408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Reads &amp; writes structured data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96C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6118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APIs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887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Connects to external services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9184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C89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6118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1480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Email / Chat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1148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Sends messages &amp; notifications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21792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611880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File System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408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Reads/writes files &amp; documents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EXAMPLES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AI Agents You Know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AutoGPT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Toran Bruce Richards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First popular autonomous agent. Sets goals and completes them step by step on its own.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54864" cy="11155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Devin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801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Cognition 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The world's first AI software engineer. Can build entire apps from a single prompt.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54864" cy="111556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</a:rPr>
              <a:t>Claude Agents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Anthropic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Multi-step reasoning, tool use, long-context planning for complex tasks.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2587752"/>
            <a:ext cx="54864" cy="111556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2679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96"/>
                </a:solidFill>
              </a:rPr>
              <a:t>GPT 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OpenAI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Connects ChatGPT to apps like Gmail, Slack, and databases for automated workflows.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54864" cy="11155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3941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Copilot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Microsoft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AI agent inside Office 365. Drafts emails, creates slides, analyses Excel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3849624"/>
            <a:ext cx="54864" cy="11155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0" y="3941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AgentGPT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0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Open Source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Browser-based agent that autonomously researches, writes, and delivers results.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ADVANCED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Systems: Teamwork!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collaborate  each specialising in one job, together solving complex problems.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737360"/>
            <a:ext cx="2103120" cy="210312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38528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0" y="33375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4D8"/>
                </a:solidFill>
              </a:rPr>
              <a:t>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4D8"/>
                </a:solidFill>
              </a:rPr>
              <a:t>AGENT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Research Agent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9696" y="193395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6576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Writing Agent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39696" y="34884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13232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132320" y="164592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2237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Coder Agent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77456" y="1933956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132320" y="320040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22376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Email Agent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77456" y="34884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8224157" cy="485503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0080" y="4391297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Example: A 'marketing campaign' task → Manager delegates research to Research Agent, writing to Writing Agent, and delivery to Email Agent  all running in parallel!</a:t>
            </a:r>
            <a:endParaRPr lang="en-US" sz="11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B0CD775-93F2-71D9-0715-CEF2E603A1E0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240280" y="1991106"/>
            <a:ext cx="1234440" cy="7978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5B10F56-2CB1-5716-3970-D8F25C8A0F5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240280" y="3528177"/>
            <a:ext cx="2286000" cy="284871"/>
          </a:xfrm>
          <a:prstGeom prst="bentConnector4">
            <a:avLst>
              <a:gd name="adj1" fmla="val 27000"/>
              <a:gd name="adj2" fmla="val 1802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17BFDD8-7DAD-9520-63CE-20AFF874ECA5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5577840" y="1988820"/>
            <a:ext cx="1508760" cy="8001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111418C-C666-3EFD-38E1-DB25C6D72101}"/>
              </a:ext>
            </a:extLst>
          </p:cNvPr>
          <p:cNvCxnSpPr>
            <a:cxnSpLocks/>
            <a:stCxn id="24" idx="2"/>
            <a:endCxn id="6" idx="4"/>
          </p:cNvCxnSpPr>
          <p:nvPr/>
        </p:nvCxnSpPr>
        <p:spPr>
          <a:xfrm rot="10800000" flipV="1">
            <a:off x="4526280" y="3543300"/>
            <a:ext cx="2551176" cy="297180"/>
          </a:xfrm>
          <a:prstGeom prst="bentConnector4">
            <a:avLst>
              <a:gd name="adj1" fmla="val 29391"/>
              <a:gd name="adj2" fmla="val 176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Agents Are Powerful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100x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9339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faster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Speed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 seconds what takes humans hours.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</a:rPr>
              <a:t>99.9%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91947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2900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Accuracy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tired mistakes. Consistent, high-quality output.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630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∞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84555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scale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can handle 1,000 tasks simultaneously.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</a:rPr>
              <a:t>60%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99339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cost cut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Cost Saving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0292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operational costs significantly over time.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9184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4612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0507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</a:rPr>
              <a:t>24/7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91947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uptime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2900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Always 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42900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24/7/365. No breaks, no vacations, no sick days.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21792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4612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3115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</a:rPr>
              <a:t>↑↑↑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784555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grows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35508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Adaptability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new data and continuously improves.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⚠️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Hallucinations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sometimes make up incorrect information or take wrong actions confidently.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🔒 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97510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Risks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97510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tool access can be manipulated by bad actors (prompt injection attacks).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💸 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5786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5786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LLM calls per task can be expensive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1821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🤖 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Over-Automation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1821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automation without oversight can lead to errors going unnoticed for too long.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8561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🧩 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7856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Lack of Common Sense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37856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lack human intuition and may fail at tasks requiring real-world understanding.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🛡️ 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389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Privacy Concerns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4389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access to personal data raise serious data privacy and compliance questions.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MARKET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Market is Exploding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Projected to reach $102 Billion by 2028  growing at 45% annually.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Source: MarketsandMarkets AI Agent Report 2024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BUILD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Simple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6928" y="143560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Define the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agent do? Be specific.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'Answer customer emails automatically.'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0" y="14356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0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Choose the LLM Brain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model: GPT-4, Claude, Gemini.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agent's thinking engine.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82512" y="1435608"/>
            <a:ext cx="566928" cy="566928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82512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0024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Give It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tools: web search, database, email.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expands what the agent can 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Add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remember past conversations.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 databases (Pinecone, ChromaDB).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74720" y="3246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42232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Set Safety Rules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boundaries. What should it NOT do?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a human review loop for risky tasks.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2784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82512" y="3246120"/>
            <a:ext cx="566928" cy="566928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82512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50024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Test &amp; Improve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82512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scenarios. Catch mistakes early.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based on real-world performance.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FUTURE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80560" y="128016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15968" y="138988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840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3350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33502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Tool-using 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Agents browse web, run code, read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25696" y="2276856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37760" y="2167128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37760" y="2167128"/>
            <a:ext cx="3840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47488" y="2221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221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 workflows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Long-running multi-step autonomous pipelines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3163824"/>
            <a:ext cx="219456" cy="219456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384048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2026–27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Physical AI Agents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Robots controlled by AI agents in the real world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25696" y="4050792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937760" y="3941064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37760" y="3941064"/>
            <a:ext cx="384048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47488" y="3995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2028–30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9959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Society-scale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</a:rPr>
              <a:t>Agents managing cities, supply chains, healthcare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475488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"Agents will do the work of a small company. Humans will manage agents, not tasks."  Sam Altman, CEO of OpenAI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15568" y="143560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autonomous programs that perceive, think, and act to achieve goals  without step-by-step human instruction.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15568" y="2057400"/>
            <a:ext cx="457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61872" y="19476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tools like web search, code execution, and APIs  combining them intelligently to solve complex, multi-step problems.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569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15568" y="2679192"/>
            <a:ext cx="45720" cy="32004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61872" y="25694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industry is adopting AI Agents  from finance to healthcare, retail to cybersecurity.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5568" y="3300984"/>
            <a:ext cx="45720" cy="3200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61872" y="31912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 speed, accuracy, scalability, 24/7 availability, and cost savings  at a scale humans simply cannot match.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15568" y="3922776"/>
            <a:ext cx="457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261872" y="3813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remain: hallucinations, security, cost, and the need for human oversight and safety guardrails.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15568" y="4544568"/>
            <a:ext cx="45720" cy="32004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261872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market will reach $102B by 2028. Now is the time to learn, build, and leverage this technology.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of AI Agents is Here.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4980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🧠 Keep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AI news &amp; build small projects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29000" y="397764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53872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🔧 Start Building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3872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LangChain or AutoGPT today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56032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2764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🌐 Stay Updated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2764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fast  never stop exploring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1623</Words>
  <Application>Microsoft Office PowerPoint</Application>
  <PresentationFormat>On-screen Show (16:9)</PresentationFormat>
  <Paragraphs>316</Paragraphs>
  <Slides>21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— The Future of Intelligent Automation</dc:title>
  <dc:subject>PptxGenJS Presentation</dc:subject>
  <dc:creator>AI Agents Presentation</dc:creator>
  <cp:lastModifiedBy>Shinde, Dakshata</cp:lastModifiedBy>
  <cp:revision>5</cp:revision>
  <dcterms:created xsi:type="dcterms:W3CDTF">2026-06-07T17:07:27Z</dcterms:created>
  <dcterms:modified xsi:type="dcterms:W3CDTF">2026-07-06T07:08:35Z</dcterms:modified>
</cp:coreProperties>
</file>